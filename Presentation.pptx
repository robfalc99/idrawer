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Lst>
  <p:sldIdLst>
    <p:sldId id="256" r:id="rId5"/>
    <p:sldId id="258" r:id="rId6"/>
    <p:sldId id="259" r:id="rId7"/>
    <p:sldId id="260" r:id="rId8"/>
    <p:sldId id="261" r:id="rId9"/>
    <p:sldId id="262" r:id="rId10"/>
    <p:sldId id="263" r:id="rId11"/>
    <p:sldId id="264" r:id="rId12"/>
    <p:sldId id="265" r:id="rId13"/>
    <p:sldId id="266" r:id="rId14"/>
    <p:sldId id="267" r:id="rId15"/>
    <p:sldId id="269" r:id="rId16"/>
    <p:sldId id="268" r:id="rId1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54" y="9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5/19/2021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‹N›</a:t>
            </a:fld>
            <a:endParaRPr lang="en-US" dirty="0"/>
          </a:p>
        </p:txBody>
      </p:sp>
    </p:spTree>
    <p:extLst>
      <p:ext uri="{BB962C8B-B14F-4D97-AF65-F5344CB8AC3E}">
        <p14:creationId xmlns:p14="http://schemas.microsoft.com/office/powerpoint/2010/main" val="3997564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518050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5/19/2021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‹N›</a:t>
            </a:fld>
            <a:endParaRPr lang="en-US" dirty="0"/>
          </a:p>
        </p:txBody>
      </p:sp>
    </p:spTree>
    <p:extLst>
      <p:ext uri="{BB962C8B-B14F-4D97-AF65-F5344CB8AC3E}">
        <p14:creationId xmlns:p14="http://schemas.microsoft.com/office/powerpoint/2010/main" val="2607432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788804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5/19/2021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754408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5/19/2021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5672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5/19/2021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651177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‹N›</a:t>
            </a:fld>
            <a:endParaRPr lang="en-US" dirty="0"/>
          </a:p>
        </p:txBody>
      </p:sp>
    </p:spTree>
    <p:extLst>
      <p:ext uri="{BB962C8B-B14F-4D97-AF65-F5344CB8AC3E}">
        <p14:creationId xmlns:p14="http://schemas.microsoft.com/office/powerpoint/2010/main" val="2877472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5/19/2021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990803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5/19/2021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938961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5/19/2021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911874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5/19/2021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76870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5/19/2021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325456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5/19/2021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209015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5/19/2021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617953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5/19/2021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7056084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5/19/2021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402820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5/19/2021</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‹N›</a:t>
            </a:fld>
            <a:endParaRPr lang="en-US" dirty="0"/>
          </a:p>
        </p:txBody>
      </p:sp>
    </p:spTree>
    <p:extLst>
      <p:ext uri="{BB962C8B-B14F-4D97-AF65-F5344CB8AC3E}">
        <p14:creationId xmlns:p14="http://schemas.microsoft.com/office/powerpoint/2010/main" val="4234008867"/>
      </p:ext>
    </p:extLst>
  </p:cSld>
  <p:clrMap bg1="dk1" tx1="lt1" bg2="dk2" tx2="lt2" accent1="accent1" accent2="accent2" accent3="accent3" accent4="accent4" accent5="accent5" accent6="accent6" hlink="hlink" folHlink="folHlink"/>
  <p:sldLayoutIdLst>
    <p:sldLayoutId id="2147483677" r:id="rId1"/>
    <p:sldLayoutId id="2147483678"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6" r:id="rId12"/>
    <p:sldLayoutId id="2147483671" r:id="rId13"/>
    <p:sldLayoutId id="2147483672" r:id="rId14"/>
    <p:sldLayoutId id="2147483673" r:id="rId15"/>
    <p:sldLayoutId id="2147483674" r:id="rId16"/>
    <p:sldLayoutId id="2147483675" r:id="rId17"/>
  </p:sldLayoutIdLst>
  <p:hf sldNum="0" hdr="0" ftr="0" dt="0"/>
  <p:txStyles>
    <p:titleStyle>
      <a:lvl1pPr algn="ctr" defTabSz="457200" rtl="0" eaLnBrk="1" latinLnBrk="0" hangingPunct="1">
        <a:lnSpc>
          <a:spcPct val="90000"/>
        </a:lnSpc>
        <a:spcBef>
          <a:spcPct val="0"/>
        </a:spcBef>
        <a:buNone/>
        <a:defRPr sz="3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lnSpc>
          <a:spcPct val="110000"/>
        </a:lnSpc>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lnSpc>
          <a:spcPct val="110000"/>
        </a:lnSpc>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mailto:r.falcone13@studenti.unisa.it" TargetMode="External"/><Relationship Id="rId2" Type="http://schemas.openxmlformats.org/officeDocument/2006/relationships/hyperlink" Target="mailto:u.altieri@studenti.unisa.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descr="Electronic circuit board">
            <a:extLst>
              <a:ext uri="{FF2B5EF4-FFF2-40B4-BE49-F238E27FC236}">
                <a16:creationId xmlns:a16="http://schemas.microsoft.com/office/drawing/2014/main" id="{13E83CB6-482B-4ED0-AA69-B2B0523BBCFC}"/>
              </a:ext>
            </a:extLst>
          </p:cNvPr>
          <p:cNvPicPr>
            <a:picLocks noChangeAspect="1"/>
          </p:cNvPicPr>
          <p:nvPr/>
        </p:nvPicPr>
        <p:blipFill rotWithShape="1">
          <a:blip r:embed="rId3"/>
          <a:srcRect t="15730"/>
          <a:stretch/>
        </p:blipFill>
        <p:spPr>
          <a:xfrm>
            <a:off x="19" y="10"/>
            <a:ext cx="12191981" cy="6857990"/>
          </a:xfrm>
          <a:prstGeom prst="rect">
            <a:avLst/>
          </a:prstGeom>
        </p:spPr>
      </p:pic>
      <p:sp useBgFill="1">
        <p:nvSpPr>
          <p:cNvPr id="9"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1028777"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olo 1">
            <a:extLst>
              <a:ext uri="{FF2B5EF4-FFF2-40B4-BE49-F238E27FC236}">
                <a16:creationId xmlns:a16="http://schemas.microsoft.com/office/drawing/2014/main" id="{5D173CFE-6FD9-41EE-BE0E-C4DF4BC66185}"/>
              </a:ext>
            </a:extLst>
          </p:cNvPr>
          <p:cNvSpPr>
            <a:spLocks noGrp="1"/>
          </p:cNvSpPr>
          <p:nvPr>
            <p:ph type="ctrTitle"/>
          </p:nvPr>
        </p:nvSpPr>
        <p:spPr>
          <a:xfrm>
            <a:off x="1316965" y="1673524"/>
            <a:ext cx="3485073" cy="2420504"/>
          </a:xfrm>
        </p:spPr>
        <p:txBody>
          <a:bodyPr>
            <a:normAutofit/>
          </a:bodyPr>
          <a:lstStyle/>
          <a:p>
            <a:pPr algn="l"/>
            <a:r>
              <a:rPr lang="it-IT" sz="6600" dirty="0"/>
              <a:t>Security iDrawer</a:t>
            </a:r>
          </a:p>
        </p:txBody>
      </p:sp>
      <p:sp>
        <p:nvSpPr>
          <p:cNvPr id="3" name="Sottotitolo 2">
            <a:extLst>
              <a:ext uri="{FF2B5EF4-FFF2-40B4-BE49-F238E27FC236}">
                <a16:creationId xmlns:a16="http://schemas.microsoft.com/office/drawing/2014/main" id="{EA053248-C422-47C9-ACAA-D3A98143BE9A}"/>
              </a:ext>
            </a:extLst>
          </p:cNvPr>
          <p:cNvSpPr>
            <a:spLocks noGrp="1"/>
          </p:cNvSpPr>
          <p:nvPr>
            <p:ph type="subTitle" idx="1"/>
          </p:nvPr>
        </p:nvSpPr>
        <p:spPr>
          <a:xfrm>
            <a:off x="1316963" y="4157933"/>
            <a:ext cx="3485072" cy="1026544"/>
          </a:xfrm>
        </p:spPr>
        <p:txBody>
          <a:bodyPr>
            <a:normAutofit fontScale="92500" lnSpcReduction="10000"/>
          </a:bodyPr>
          <a:lstStyle/>
          <a:p>
            <a:pPr algn="l"/>
            <a:r>
              <a:rPr lang="it-IT" dirty="0">
                <a:solidFill>
                  <a:srgbClr val="8FA1CD"/>
                </a:solidFill>
              </a:rPr>
              <a:t>Progetto IOT a cura di:</a:t>
            </a:r>
            <a:br>
              <a:rPr lang="it-IT" dirty="0">
                <a:solidFill>
                  <a:srgbClr val="8FA1CD"/>
                </a:solidFill>
              </a:rPr>
            </a:br>
            <a:r>
              <a:rPr lang="it-IT" dirty="0">
                <a:solidFill>
                  <a:srgbClr val="8FA1CD"/>
                </a:solidFill>
              </a:rPr>
              <a:t>• Altieri Umberto</a:t>
            </a:r>
            <a:br>
              <a:rPr lang="it-IT" dirty="0">
                <a:solidFill>
                  <a:srgbClr val="8FA1CD"/>
                </a:solidFill>
              </a:rPr>
            </a:br>
            <a:r>
              <a:rPr lang="it-IT" dirty="0">
                <a:solidFill>
                  <a:srgbClr val="8FA1CD"/>
                </a:solidFill>
              </a:rPr>
              <a:t>• Roberto Falcone</a:t>
            </a:r>
          </a:p>
        </p:txBody>
      </p:sp>
    </p:spTree>
    <p:extLst>
      <p:ext uri="{BB962C8B-B14F-4D97-AF65-F5344CB8AC3E}">
        <p14:creationId xmlns:p14="http://schemas.microsoft.com/office/powerpoint/2010/main" val="338071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DESCRIZIONE</a:t>
            </a:r>
          </a:p>
        </p:txBody>
      </p:sp>
      <p:sp>
        <p:nvSpPr>
          <p:cNvPr id="3" name="Segnaposto contenuto 2">
            <a:extLst>
              <a:ext uri="{FF2B5EF4-FFF2-40B4-BE49-F238E27FC236}">
                <a16:creationId xmlns:a16="http://schemas.microsoft.com/office/drawing/2014/main" id="{0CD2E504-8E01-4447-8C8A-9C363BD3C96C}"/>
              </a:ext>
            </a:extLst>
          </p:cNvPr>
          <p:cNvSpPr>
            <a:spLocks noGrp="1"/>
          </p:cNvSpPr>
          <p:nvPr>
            <p:ph idx="1"/>
          </p:nvPr>
        </p:nvSpPr>
        <p:spPr>
          <a:xfrm>
            <a:off x="167425" y="1996226"/>
            <a:ext cx="11880642" cy="4636394"/>
          </a:xfrm>
          <a:effectLst/>
        </p:spPr>
        <p:txBody>
          <a:bodyPr anchor="ctr">
            <a:normAutofit/>
          </a:bodyPr>
          <a:lstStyle/>
          <a:p>
            <a:pPr marL="36900" indent="0" algn="ctr">
              <a:lnSpc>
                <a:spcPct val="125000"/>
              </a:lnSpc>
              <a:spcAft>
                <a:spcPts val="800"/>
              </a:spcAft>
              <a:buNone/>
            </a:pPr>
            <a:r>
              <a:rPr lang="it-IT" sz="2400" dirty="0">
                <a:effectLst/>
                <a:latin typeface="Calibri" panose="020F0502020204030204" pitchFamily="34" charset="0"/>
                <a:ea typeface="Times New Roman" panose="02020603050405020304" pitchFamily="18" charset="0"/>
                <a:cs typeface="Times New Roman" panose="02020603050405020304" pitchFamily="18" charset="0"/>
              </a:rPr>
              <a:t>Security iDrawer è un meccanismo di sicurezza realizzato per gestire l’accesso ad un cassetto.</a:t>
            </a:r>
          </a:p>
          <a:p>
            <a:pPr marL="36900" indent="0" algn="ctr">
              <a:lnSpc>
                <a:spcPct val="125000"/>
              </a:lnSpc>
              <a:spcAft>
                <a:spcPts val="800"/>
              </a:spcAft>
              <a:buNone/>
            </a:pPr>
            <a:r>
              <a:rPr lang="it-IT" sz="2400" dirty="0">
                <a:effectLst/>
                <a:latin typeface="Calibri" panose="020F0502020204030204" pitchFamily="34" charset="0"/>
                <a:ea typeface="Times New Roman" panose="02020603050405020304" pitchFamily="18" charset="0"/>
                <a:cs typeface="Times New Roman" panose="02020603050405020304" pitchFamily="18" charset="0"/>
              </a:rPr>
              <a:t>Garantisce che il cassetto resti chiuso fino all’inserimento della password corretta attraverso un keypad a membrana. In caso di password errata, segnalata sia dal display che dal led, dopo 3 tentativi scatta l’allarme, un buzzer inizia a suonare segnalando il tentativo di accesso al cassetto e il sistema invia una notifica sullo smartphone del proprietario. L'allarme può essere interrotto soltanto inserendo la password corretta dalla relativa app. Nel caso di un eventuale tentativo di scasso del cassetto, suonerà l’allarme e verrà inviata una notifica pop-up al proprietario. È inoltre possibile cambiare la password una volta aperto il cassetto (di default settata a 1234) e richiedere lo stato del sistema dall’app in ogni momento.</a:t>
            </a:r>
          </a:p>
          <a:p>
            <a:pPr marL="36900" indent="0">
              <a:buNone/>
            </a:pPr>
            <a:endParaRPr lang="it-IT" dirty="0"/>
          </a:p>
        </p:txBody>
      </p:sp>
    </p:spTree>
    <p:extLst>
      <p:ext uri="{BB962C8B-B14F-4D97-AF65-F5344CB8AC3E}">
        <p14:creationId xmlns:p14="http://schemas.microsoft.com/office/powerpoint/2010/main" val="2942500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INSTALLAZIONE</a:t>
            </a:r>
          </a:p>
        </p:txBody>
      </p:sp>
      <p:sp>
        <p:nvSpPr>
          <p:cNvPr id="3" name="Segnaposto contenuto 2">
            <a:extLst>
              <a:ext uri="{FF2B5EF4-FFF2-40B4-BE49-F238E27FC236}">
                <a16:creationId xmlns:a16="http://schemas.microsoft.com/office/drawing/2014/main" id="{0CD2E504-8E01-4447-8C8A-9C363BD3C96C}"/>
              </a:ext>
            </a:extLst>
          </p:cNvPr>
          <p:cNvSpPr>
            <a:spLocks noGrp="1"/>
          </p:cNvSpPr>
          <p:nvPr>
            <p:ph idx="1"/>
          </p:nvPr>
        </p:nvSpPr>
        <p:spPr>
          <a:xfrm>
            <a:off x="167425" y="1996226"/>
            <a:ext cx="11880642" cy="4636394"/>
          </a:xfrm>
          <a:effectLst/>
        </p:spPr>
        <p:txBody>
          <a:bodyPr anchor="ctr">
            <a:normAutofit/>
          </a:bodyPr>
          <a:lstStyle/>
          <a:p>
            <a:pPr marL="36900" indent="0" algn="ctr">
              <a:buNone/>
            </a:pPr>
            <a:r>
              <a:rPr lang="it-IT" sz="3600" dirty="0">
                <a:effectLst/>
                <a:latin typeface="Calibri" panose="020F0502020204030204" pitchFamily="34" charset="0"/>
                <a:ea typeface="Times New Roman" panose="02020603050405020304" pitchFamily="18" charset="0"/>
                <a:cs typeface="Times New Roman" panose="02020603050405020304" pitchFamily="18" charset="0"/>
              </a:rPr>
              <a:t>Security iDrawer richiede una semplice installazione: fissare una staffa angolare all’incavo superiore del cassetto, un servomotore, nella direzione corrispondente alla staffa, e un sensore ad ultrasuoni all’interno del cassetto stesso.</a:t>
            </a:r>
          </a:p>
          <a:p>
            <a:pPr marL="36900" indent="0">
              <a:buNone/>
            </a:pPr>
            <a:endParaRPr lang="it-IT" dirty="0"/>
          </a:p>
        </p:txBody>
      </p:sp>
    </p:spTree>
    <p:extLst>
      <p:ext uri="{BB962C8B-B14F-4D97-AF65-F5344CB8AC3E}">
        <p14:creationId xmlns:p14="http://schemas.microsoft.com/office/powerpoint/2010/main" val="4015637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descr="Breadboard elettronica">
            <a:extLst>
              <a:ext uri="{FF2B5EF4-FFF2-40B4-BE49-F238E27FC236}">
                <a16:creationId xmlns:a16="http://schemas.microsoft.com/office/drawing/2014/main" id="{C0DC7444-4A63-4597-9BC3-9809A24E5FD1}"/>
              </a:ext>
            </a:extLst>
          </p:cNvPr>
          <p:cNvPicPr>
            <a:picLocks noChangeAspect="1"/>
          </p:cNvPicPr>
          <p:nvPr/>
        </p:nvPicPr>
        <p:blipFill rotWithShape="1">
          <a:blip r:embed="rId3"/>
          <a:srcRect t="15730"/>
          <a:stretch/>
        </p:blipFill>
        <p:spPr>
          <a:xfrm>
            <a:off x="-3047" y="10"/>
            <a:ext cx="12191999" cy="6857990"/>
          </a:xfrm>
          <a:prstGeom prst="rect">
            <a:avLst/>
          </a:prstGeom>
        </p:spPr>
      </p:pic>
      <p:sp>
        <p:nvSpPr>
          <p:cNvPr id="9" name="Rectangle 8">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3323345"/>
          </a:xfrm>
          <a:prstGeom prst="rect">
            <a:avLst/>
          </a:prstGeom>
          <a:gradFill flip="none" rotWithShape="1">
            <a:gsLst>
              <a:gs pos="57000">
                <a:schemeClr val="bg1">
                  <a:alpha val="30000"/>
                </a:schemeClr>
              </a:gs>
              <a:gs pos="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318686" y="174285"/>
            <a:ext cx="11548532" cy="997692"/>
          </a:xfrm>
        </p:spPr>
        <p:txBody>
          <a:bodyPr vert="horz" lIns="91440" tIns="45720" rIns="91440" bIns="45720" rtlCol="0" anchor="t">
            <a:normAutofit/>
          </a:bodyPr>
          <a:lstStyle/>
          <a:p>
            <a:r>
              <a:rPr lang="en-US" sz="6000" dirty="0">
                <a:solidFill>
                  <a:schemeClr val="bg1"/>
                </a:solidFill>
              </a:rPr>
              <a:t>COMPONENTI</a:t>
            </a:r>
            <a:endParaRPr lang="en-US" sz="11500" dirty="0">
              <a:solidFill>
                <a:schemeClr val="bg1"/>
              </a:solidFill>
            </a:endParaRPr>
          </a:p>
        </p:txBody>
      </p:sp>
      <p:sp>
        <p:nvSpPr>
          <p:cNvPr id="11" name="Rectangle 10">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7" y="4704862"/>
            <a:ext cx="12191999" cy="2155484"/>
          </a:xfrm>
          <a:prstGeom prst="rect">
            <a:avLst/>
          </a:prstGeom>
          <a:gradFill flip="none" rotWithShape="1">
            <a:gsLst>
              <a:gs pos="59000">
                <a:schemeClr val="bg1">
                  <a:alpha val="30000"/>
                </a:schemeClr>
              </a:gs>
              <a:gs pos="0">
                <a:schemeClr val="bg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sellaDiTesto 5">
            <a:extLst>
              <a:ext uri="{FF2B5EF4-FFF2-40B4-BE49-F238E27FC236}">
                <a16:creationId xmlns:a16="http://schemas.microsoft.com/office/drawing/2014/main" id="{82B9E17E-A8FB-443A-B6CE-B23C21A46B8D}"/>
              </a:ext>
            </a:extLst>
          </p:cNvPr>
          <p:cNvSpPr txBox="1"/>
          <p:nvPr/>
        </p:nvSpPr>
        <p:spPr>
          <a:xfrm>
            <a:off x="2408349" y="991673"/>
            <a:ext cx="7727323" cy="6487545"/>
          </a:xfrm>
          <a:prstGeom prst="rect">
            <a:avLst/>
          </a:prstGeom>
          <a:noFill/>
        </p:spPr>
        <p:txBody>
          <a:bodyPr wrap="square" rtlCol="0">
            <a:spAutoFit/>
          </a:bodyPr>
          <a:lstStyle/>
          <a:p>
            <a:pPr lvl="0" algn="ctr">
              <a:lnSpc>
                <a:spcPct val="125000"/>
              </a:lnSpc>
            </a:pPr>
            <a:r>
              <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Keypad a membrana 4x4</a:t>
            </a:r>
          </a:p>
          <a:p>
            <a:pPr lvl="0" algn="ctr">
              <a:lnSpc>
                <a:spcPct val="125000"/>
              </a:lnSpc>
            </a:pPr>
            <a:r>
              <a:rPr lang="it-IT" sz="24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Microservomotore</a:t>
            </a:r>
            <a:endPar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p>
            <a:pPr lvl="0" algn="ctr">
              <a:lnSpc>
                <a:spcPct val="125000"/>
              </a:lnSpc>
            </a:pPr>
            <a:r>
              <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Buzzer </a:t>
            </a:r>
            <a:r>
              <a:rPr lang="it-IT" sz="24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piezo</a:t>
            </a:r>
            <a:r>
              <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passivo</a:t>
            </a:r>
          </a:p>
          <a:p>
            <a:pPr lvl="0" algn="ctr">
              <a:lnSpc>
                <a:spcPct val="125000"/>
              </a:lnSpc>
            </a:pPr>
            <a:r>
              <a:rPr lang="it-IT" sz="24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RGB</a:t>
            </a:r>
            <a:r>
              <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led</a:t>
            </a:r>
          </a:p>
          <a:p>
            <a:pPr lvl="0" algn="ctr">
              <a:lnSpc>
                <a:spcPct val="125000"/>
              </a:lnSpc>
            </a:pPr>
            <a:r>
              <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Sensore ad ultrasuoni HC-SR04</a:t>
            </a:r>
          </a:p>
          <a:p>
            <a:pPr lvl="0" algn="ctr">
              <a:lnSpc>
                <a:spcPct val="125000"/>
              </a:lnSpc>
            </a:pPr>
            <a:r>
              <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Modulo LCD 1602</a:t>
            </a:r>
          </a:p>
          <a:p>
            <a:pPr lvl="0" algn="ctr">
              <a:lnSpc>
                <a:spcPct val="125000"/>
              </a:lnSpc>
            </a:pPr>
            <a:r>
              <a:rPr lang="en-GB" sz="2400" b="1"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a:t>
            </a:r>
            <a:r>
              <a:rPr lang="en-GB" sz="2400" b="1" dirty="0" err="1">
                <a:solidFill>
                  <a:schemeClr val="bg1"/>
                </a:solidFill>
                <a:latin typeface="Calibri" panose="020F0502020204030204" pitchFamily="34" charset="0"/>
                <a:ea typeface="Times New Roman" panose="02020603050405020304" pitchFamily="18" charset="0"/>
                <a:cs typeface="Times New Roman" panose="02020603050405020304" pitchFamily="18" charset="0"/>
              </a:rPr>
              <a:t>Adattatore</a:t>
            </a:r>
            <a:r>
              <a:rPr lang="en-GB" sz="2400" b="1"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display LCD 1602</a:t>
            </a:r>
            <a:endPar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p>
            <a:pPr lvl="0" algn="ctr">
              <a:lnSpc>
                <a:spcPct val="125000"/>
              </a:lnSpc>
            </a:pPr>
            <a:r>
              <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ESP32</a:t>
            </a:r>
          </a:p>
          <a:p>
            <a:pPr lvl="0" algn="ctr">
              <a:lnSpc>
                <a:spcPct val="125000"/>
              </a:lnSpc>
            </a:pPr>
            <a:r>
              <a:rPr lang="en-GB"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Power bank (per </a:t>
            </a:r>
            <a:r>
              <a:rPr lang="en-GB" sz="24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alimentare</a:t>
            </a:r>
            <a:r>
              <a:rPr lang="en-GB"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board)</a:t>
            </a:r>
            <a:endPar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p>
            <a:pPr lvl="0" algn="ctr">
              <a:lnSpc>
                <a:spcPct val="125000"/>
              </a:lnSpc>
              <a:spcAft>
                <a:spcPts val="800"/>
              </a:spcAft>
            </a:pPr>
            <a:r>
              <a:rPr lang="en-GB"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Breadboard per </a:t>
            </a:r>
            <a:r>
              <a:rPr lang="en-GB" sz="24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gestire</a:t>
            </a:r>
            <a:r>
              <a:rPr lang="en-GB"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 la </a:t>
            </a:r>
            <a:r>
              <a:rPr lang="en-GB" sz="24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circuiteria</a:t>
            </a:r>
            <a:endParaRPr lang="en-GB"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p>
            <a:pPr lvl="0" algn="ctr">
              <a:lnSpc>
                <a:spcPct val="125000"/>
              </a:lnSpc>
              <a:spcAft>
                <a:spcPts val="800"/>
              </a:spcAft>
            </a:pPr>
            <a:r>
              <a:rPr lang="en-GB" sz="2400" b="1" dirty="0" err="1">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rPr>
              <a:t>Resistenze</a:t>
            </a:r>
            <a:endParaRPr lang="en-GB"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p>
            <a:pPr lvl="0" algn="ctr">
              <a:lnSpc>
                <a:spcPct val="125000"/>
              </a:lnSpc>
              <a:spcAft>
                <a:spcPts val="800"/>
              </a:spcAft>
            </a:pPr>
            <a:r>
              <a:rPr lang="en-GB" sz="2400" b="1" dirty="0">
                <a:solidFill>
                  <a:schemeClr val="bg1"/>
                </a:solidFill>
                <a:latin typeface="Calibri" panose="020F0502020204030204" pitchFamily="34" charset="0"/>
                <a:ea typeface="Times New Roman" panose="02020603050405020304" pitchFamily="18" charset="0"/>
                <a:cs typeface="Times New Roman" panose="02020603050405020304" pitchFamily="18" charset="0"/>
              </a:rPr>
              <a:t> Jumpers</a:t>
            </a:r>
            <a:endParaRPr lang="it-IT" sz="2400" b="1" dirty="0">
              <a:solidFill>
                <a:schemeClr val="bg1"/>
              </a:solidFill>
              <a:effectLst/>
              <a:latin typeface="Calibri" panose="020F0502020204030204" pitchFamily="34" charset="0"/>
              <a:ea typeface="Times New Roman" panose="02020603050405020304" pitchFamily="18" charset="0"/>
              <a:cs typeface="Times New Roman" panose="02020603050405020304" pitchFamily="18" charset="0"/>
            </a:endParaRPr>
          </a:p>
          <a:p>
            <a:endParaRPr lang="it-IT" sz="2000" dirty="0"/>
          </a:p>
        </p:txBody>
      </p:sp>
    </p:spTree>
    <p:extLst>
      <p:ext uri="{BB962C8B-B14F-4D97-AF65-F5344CB8AC3E}">
        <p14:creationId xmlns:p14="http://schemas.microsoft.com/office/powerpoint/2010/main" val="11981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KEYPAD A MEMBRANA</a:t>
            </a:r>
          </a:p>
        </p:txBody>
      </p:sp>
      <p:pic>
        <p:nvPicPr>
          <p:cNvPr id="5" name="Segnaposto contenuto 4" descr="Immagine che contiene testo, elettronico&#10;&#10;Descrizione generata automaticamente">
            <a:extLst>
              <a:ext uri="{FF2B5EF4-FFF2-40B4-BE49-F238E27FC236}">
                <a16:creationId xmlns:a16="http://schemas.microsoft.com/office/drawing/2014/main" id="{020972AF-4283-4E77-B1E9-74F441BE044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43808" t="22473" b="5561"/>
          <a:stretch/>
        </p:blipFill>
        <p:spPr>
          <a:xfrm rot="16200000">
            <a:off x="9361863" y="2802466"/>
            <a:ext cx="2943427" cy="187113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 name="CasellaDiTesto 2">
            <a:extLst>
              <a:ext uri="{FF2B5EF4-FFF2-40B4-BE49-F238E27FC236}">
                <a16:creationId xmlns:a16="http://schemas.microsoft.com/office/drawing/2014/main" id="{04F069CB-ACDA-485A-BB39-8EEE03170C91}"/>
              </a:ext>
            </a:extLst>
          </p:cNvPr>
          <p:cNvSpPr txBox="1"/>
          <p:nvPr/>
        </p:nvSpPr>
        <p:spPr>
          <a:xfrm>
            <a:off x="377072" y="2266319"/>
            <a:ext cx="9209988" cy="1477328"/>
          </a:xfrm>
          <a:prstGeom prst="rect">
            <a:avLst/>
          </a:prstGeom>
          <a:noFill/>
        </p:spPr>
        <p:txBody>
          <a:bodyPr wrap="square" rtlCol="0">
            <a:spAutoFit/>
          </a:bodyPr>
          <a:lstStyle/>
          <a:p>
            <a:r>
              <a:rPr lang="it-IT" dirty="0"/>
              <a:t>Il dispositivo ha ben 7 pin di cui i primi 4 da sinistra verso destra, rappresentano i pin delle righe che sono alimentati con 5V da sinistra verso destra rispettivamente con le resistenze da 220</a:t>
            </a:r>
            <a:r>
              <a:rPr lang="el-GR" dirty="0"/>
              <a:t>Ω</a:t>
            </a:r>
            <a:r>
              <a:rPr lang="it-IT" dirty="0"/>
              <a:t>, 2000</a:t>
            </a:r>
            <a:r>
              <a:rPr lang="el-GR" dirty="0"/>
              <a:t> Ω</a:t>
            </a:r>
            <a:r>
              <a:rPr lang="it-IT" dirty="0"/>
              <a:t>,5000</a:t>
            </a:r>
            <a:r>
              <a:rPr lang="el-GR" dirty="0"/>
              <a:t> Ω</a:t>
            </a:r>
            <a:r>
              <a:rPr lang="it-IT" dirty="0"/>
              <a:t>,10000</a:t>
            </a:r>
            <a:r>
              <a:rPr lang="el-GR" dirty="0"/>
              <a:t> Ω</a:t>
            </a:r>
            <a:r>
              <a:rPr lang="it-IT" dirty="0"/>
              <a:t> alimentati con la Vin. Mentre gli altri 3 pin da sinistra verso destra non necessitano di alimentazione, ma di 3 </a:t>
            </a:r>
            <a:r>
              <a:rPr lang="it-IT" dirty="0" err="1"/>
              <a:t>analog</a:t>
            </a:r>
            <a:r>
              <a:rPr lang="it-IT" dirty="0"/>
              <a:t> , questi pin rappresentano le colonne rispettivamente da sinistra verso destra.</a:t>
            </a:r>
          </a:p>
        </p:txBody>
      </p:sp>
      <p:pic>
        <p:nvPicPr>
          <p:cNvPr id="10" name="Immagine 9" descr="Immagine che contiene testo, cielo&#10;&#10;Descrizione generata automaticamente">
            <a:extLst>
              <a:ext uri="{FF2B5EF4-FFF2-40B4-BE49-F238E27FC236}">
                <a16:creationId xmlns:a16="http://schemas.microsoft.com/office/drawing/2014/main" id="{ED07EBC9-FF4A-4511-A871-AD455694809E}"/>
              </a:ext>
            </a:extLst>
          </p:cNvPr>
          <p:cNvPicPr>
            <a:picLocks noChangeAspect="1"/>
          </p:cNvPicPr>
          <p:nvPr/>
        </p:nvPicPr>
        <p:blipFill rotWithShape="1">
          <a:blip r:embed="rId3">
            <a:extLst>
              <a:ext uri="{28A0092B-C50C-407E-A947-70E740481C1C}">
                <a14:useLocalDpi xmlns:a14="http://schemas.microsoft.com/office/drawing/2010/main" val="0"/>
              </a:ext>
            </a:extLst>
          </a:blip>
          <a:srcRect l="13016" t="14098" r="13389" b="14846"/>
          <a:stretch/>
        </p:blipFill>
        <p:spPr>
          <a:xfrm>
            <a:off x="11079955" y="3738032"/>
            <a:ext cx="351201" cy="339089"/>
          </a:xfrm>
          <a:prstGeom prst="rect">
            <a:avLst/>
          </a:prstGeom>
        </p:spPr>
      </p:pic>
      <p:pic>
        <p:nvPicPr>
          <p:cNvPr id="12" name="Immagine 11">
            <a:extLst>
              <a:ext uri="{FF2B5EF4-FFF2-40B4-BE49-F238E27FC236}">
                <a16:creationId xmlns:a16="http://schemas.microsoft.com/office/drawing/2014/main" id="{595B381C-5780-465B-A46C-2E368C1518A4}"/>
              </a:ext>
            </a:extLst>
          </p:cNvPr>
          <p:cNvPicPr>
            <a:picLocks noChangeAspect="1"/>
          </p:cNvPicPr>
          <p:nvPr/>
        </p:nvPicPr>
        <p:blipFill rotWithShape="1">
          <a:blip r:embed="rId4">
            <a:extLst>
              <a:ext uri="{28A0092B-C50C-407E-A947-70E740481C1C}">
                <a14:useLocalDpi xmlns:a14="http://schemas.microsoft.com/office/drawing/2010/main" val="0"/>
              </a:ext>
            </a:extLst>
          </a:blip>
          <a:srcRect l="4190" t="7676" r="4537" b="20518"/>
          <a:stretch/>
        </p:blipFill>
        <p:spPr>
          <a:xfrm>
            <a:off x="10206037" y="3738033"/>
            <a:ext cx="431007" cy="339089"/>
          </a:xfrm>
          <a:prstGeom prst="rect">
            <a:avLst/>
          </a:prstGeom>
        </p:spPr>
      </p:pic>
      <p:sp>
        <p:nvSpPr>
          <p:cNvPr id="13" name="CasellaDiTesto 12">
            <a:extLst>
              <a:ext uri="{FF2B5EF4-FFF2-40B4-BE49-F238E27FC236}">
                <a16:creationId xmlns:a16="http://schemas.microsoft.com/office/drawing/2014/main" id="{BA7F8BBD-DFA3-48EC-BD5F-C204A46B3B6C}"/>
              </a:ext>
            </a:extLst>
          </p:cNvPr>
          <p:cNvSpPr txBox="1"/>
          <p:nvPr/>
        </p:nvSpPr>
        <p:spPr>
          <a:xfrm>
            <a:off x="377072" y="4105696"/>
            <a:ext cx="9209987" cy="646331"/>
          </a:xfrm>
          <a:prstGeom prst="rect">
            <a:avLst/>
          </a:prstGeom>
          <a:noFill/>
        </p:spPr>
        <p:txBody>
          <a:bodyPr wrap="square" rtlCol="0">
            <a:spAutoFit/>
          </a:bodyPr>
          <a:lstStyle/>
          <a:p>
            <a:r>
              <a:rPr lang="it-IT" dirty="0"/>
              <a:t>Il riconoscimento dei tasti premuti è dovuto a dei test dopo i quali è stato possibile poter riconoscere in modo certo la pressione di un preciso tasto </a:t>
            </a:r>
          </a:p>
        </p:txBody>
      </p:sp>
    </p:spTree>
    <p:extLst>
      <p:ext uri="{BB962C8B-B14F-4D97-AF65-F5344CB8AC3E}">
        <p14:creationId xmlns:p14="http://schemas.microsoft.com/office/powerpoint/2010/main" val="3317009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MICRO </a:t>
            </a:r>
            <a:r>
              <a:rPr lang="it-IT" sz="4800" dirty="0" err="1">
                <a:solidFill>
                  <a:srgbClr val="FFFFFF"/>
                </a:solidFill>
              </a:rPr>
              <a:t>SERVOMOTRE</a:t>
            </a:r>
            <a:endParaRPr lang="it-IT" sz="4800" dirty="0">
              <a:solidFill>
                <a:srgbClr val="FFFFFF"/>
              </a:solidFill>
            </a:endParaRPr>
          </a:p>
        </p:txBody>
      </p:sp>
      <p:pic>
        <p:nvPicPr>
          <p:cNvPr id="7" name="Segnaposto contenuto 6">
            <a:extLst>
              <a:ext uri="{FF2B5EF4-FFF2-40B4-BE49-F238E27FC236}">
                <a16:creationId xmlns:a16="http://schemas.microsoft.com/office/drawing/2014/main" id="{10D45260-04CD-433E-BB34-23402FB7F6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00066" y="2126777"/>
            <a:ext cx="2604446" cy="260444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 name="CasellaDiTesto 2">
            <a:extLst>
              <a:ext uri="{FF2B5EF4-FFF2-40B4-BE49-F238E27FC236}">
                <a16:creationId xmlns:a16="http://schemas.microsoft.com/office/drawing/2014/main" id="{C625B1AD-2D87-4097-9535-806937E120E0}"/>
              </a:ext>
            </a:extLst>
          </p:cNvPr>
          <p:cNvSpPr txBox="1"/>
          <p:nvPr/>
        </p:nvSpPr>
        <p:spPr>
          <a:xfrm>
            <a:off x="904875" y="2413337"/>
            <a:ext cx="6705600" cy="2308324"/>
          </a:xfrm>
          <a:prstGeom prst="rect">
            <a:avLst/>
          </a:prstGeom>
          <a:noFill/>
        </p:spPr>
        <p:txBody>
          <a:bodyPr wrap="square" rtlCol="0">
            <a:spAutoFit/>
          </a:bodyPr>
          <a:lstStyle/>
          <a:p>
            <a:r>
              <a:rPr lang="it-IT" dirty="0" err="1"/>
              <a:t>Microservomotore</a:t>
            </a:r>
            <a:r>
              <a:rPr lang="it-IT" dirty="0"/>
              <a:t> ruota di 10 gradi alla volta e la sua rotazione massima è di 180 gradi </a:t>
            </a:r>
            <a:r>
              <a:rPr lang="it-IT" dirty="0" err="1"/>
              <a:t>dopodichè</a:t>
            </a:r>
            <a:r>
              <a:rPr lang="it-IT" dirty="0"/>
              <a:t> ritorna in posizione 0 gradi.</a:t>
            </a:r>
          </a:p>
          <a:p>
            <a:r>
              <a:rPr lang="it-IT" dirty="0"/>
              <a:t>Per il funzionamento sono richiesti 3 pin :</a:t>
            </a:r>
          </a:p>
          <a:p>
            <a:r>
              <a:rPr lang="it-IT" dirty="0"/>
              <a:t>Rosso </a:t>
            </a:r>
            <a:r>
              <a:rPr lang="it-IT" dirty="0" err="1"/>
              <a:t>Vcc</a:t>
            </a:r>
            <a:endParaRPr lang="it-IT" dirty="0"/>
          </a:p>
          <a:p>
            <a:r>
              <a:rPr lang="it-IT" dirty="0"/>
              <a:t>Marrone </a:t>
            </a:r>
            <a:r>
              <a:rPr lang="it-IT" dirty="0" err="1"/>
              <a:t>Gnd</a:t>
            </a:r>
            <a:endParaRPr lang="it-IT" dirty="0"/>
          </a:p>
          <a:p>
            <a:r>
              <a:rPr lang="it-IT" dirty="0"/>
              <a:t>Arancione PWM </a:t>
            </a:r>
          </a:p>
          <a:p>
            <a:r>
              <a:rPr lang="it-IT" dirty="0"/>
              <a:t>I comandi di rotazione possono essere dati univocamente mediante la PWM.</a:t>
            </a:r>
          </a:p>
        </p:txBody>
      </p:sp>
    </p:spTree>
    <p:extLst>
      <p:ext uri="{BB962C8B-B14F-4D97-AF65-F5344CB8AC3E}">
        <p14:creationId xmlns:p14="http://schemas.microsoft.com/office/powerpoint/2010/main" val="3007972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BUZZER </a:t>
            </a:r>
            <a:r>
              <a:rPr lang="it-IT" sz="4800" dirty="0" err="1">
                <a:solidFill>
                  <a:srgbClr val="FFFFFF"/>
                </a:solidFill>
              </a:rPr>
              <a:t>PIEZO</a:t>
            </a:r>
            <a:r>
              <a:rPr lang="it-IT" sz="4800" dirty="0">
                <a:solidFill>
                  <a:srgbClr val="FFFFFF"/>
                </a:solidFill>
              </a:rPr>
              <a:t> PASSIVO</a:t>
            </a:r>
          </a:p>
        </p:txBody>
      </p:sp>
      <p:pic>
        <p:nvPicPr>
          <p:cNvPr id="5" name="Segnaposto contenuto 4">
            <a:extLst>
              <a:ext uri="{FF2B5EF4-FFF2-40B4-BE49-F238E27FC236}">
                <a16:creationId xmlns:a16="http://schemas.microsoft.com/office/drawing/2014/main" id="{053998DA-A8C5-40DA-95A8-42817F9ECFA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5683" b="24324"/>
          <a:stretch/>
        </p:blipFill>
        <p:spPr>
          <a:xfrm>
            <a:off x="8752681" y="2243667"/>
            <a:ext cx="3118908" cy="187113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3" name="CasellaDiTesto 2">
            <a:extLst>
              <a:ext uri="{FF2B5EF4-FFF2-40B4-BE49-F238E27FC236}">
                <a16:creationId xmlns:a16="http://schemas.microsoft.com/office/drawing/2014/main" id="{238CEF35-5E3A-42BD-9C5F-3DBEAD177301}"/>
              </a:ext>
            </a:extLst>
          </p:cNvPr>
          <p:cNvSpPr txBox="1"/>
          <p:nvPr/>
        </p:nvSpPr>
        <p:spPr>
          <a:xfrm>
            <a:off x="809625" y="2440569"/>
            <a:ext cx="6629400" cy="1477328"/>
          </a:xfrm>
          <a:prstGeom prst="rect">
            <a:avLst/>
          </a:prstGeom>
          <a:noFill/>
        </p:spPr>
        <p:txBody>
          <a:bodyPr wrap="square" rtlCol="0">
            <a:spAutoFit/>
          </a:bodyPr>
          <a:lstStyle/>
          <a:p>
            <a:r>
              <a:rPr lang="it-IT" dirty="0"/>
              <a:t>Il buzzer </a:t>
            </a:r>
            <a:r>
              <a:rPr lang="it-IT" dirty="0" err="1"/>
              <a:t>piezo</a:t>
            </a:r>
            <a:r>
              <a:rPr lang="it-IT" dirty="0"/>
              <a:t> passivo è un dispositivo che richiede un’alimentazione 3V rispetto al simbolo + sul dispositivo e la </a:t>
            </a:r>
            <a:r>
              <a:rPr lang="it-IT" dirty="0" err="1"/>
              <a:t>Gnd</a:t>
            </a:r>
            <a:r>
              <a:rPr lang="it-IT" dirty="0"/>
              <a:t> in direzione opposta.</a:t>
            </a:r>
          </a:p>
          <a:p>
            <a:r>
              <a:rPr lang="it-IT" dirty="0"/>
              <a:t>I comandi possono essere dati univocamente mediante la PWM per generare suoni particolari oppure un suono monotono collegando la 3V.</a:t>
            </a:r>
          </a:p>
        </p:txBody>
      </p:sp>
    </p:spTree>
    <p:extLst>
      <p:ext uri="{BB962C8B-B14F-4D97-AF65-F5344CB8AC3E}">
        <p14:creationId xmlns:p14="http://schemas.microsoft.com/office/powerpoint/2010/main" val="90754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err="1">
                <a:solidFill>
                  <a:srgbClr val="FFFFFF"/>
                </a:solidFill>
              </a:rPr>
              <a:t>RGB</a:t>
            </a:r>
            <a:r>
              <a:rPr lang="it-IT" sz="4800" dirty="0">
                <a:solidFill>
                  <a:srgbClr val="FFFFFF"/>
                </a:solidFill>
              </a:rPr>
              <a:t> LED</a:t>
            </a:r>
          </a:p>
        </p:txBody>
      </p:sp>
      <p:pic>
        <p:nvPicPr>
          <p:cNvPr id="5" name="Segnaposto contenuto 4">
            <a:extLst>
              <a:ext uri="{FF2B5EF4-FFF2-40B4-BE49-F238E27FC236}">
                <a16:creationId xmlns:a16="http://schemas.microsoft.com/office/drawing/2014/main" id="{FBF7B86F-D617-45A7-BF86-251E9B2321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22267" y="2285310"/>
            <a:ext cx="2827044" cy="253856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CasellaDiTesto 3">
            <a:extLst>
              <a:ext uri="{FF2B5EF4-FFF2-40B4-BE49-F238E27FC236}">
                <a16:creationId xmlns:a16="http://schemas.microsoft.com/office/drawing/2014/main" id="{D72AA440-1168-4E91-B8FA-CD984F7B83F9}"/>
              </a:ext>
            </a:extLst>
          </p:cNvPr>
          <p:cNvSpPr txBox="1"/>
          <p:nvPr/>
        </p:nvSpPr>
        <p:spPr>
          <a:xfrm>
            <a:off x="270457" y="1951672"/>
            <a:ext cx="7950676" cy="1754326"/>
          </a:xfrm>
          <a:prstGeom prst="rect">
            <a:avLst/>
          </a:prstGeom>
          <a:noFill/>
        </p:spPr>
        <p:txBody>
          <a:bodyPr wrap="square" rtlCol="0">
            <a:spAutoFit/>
          </a:bodyPr>
          <a:lstStyle/>
          <a:p>
            <a:r>
              <a:rPr lang="it-IT" dirty="0"/>
              <a:t>L’ </a:t>
            </a:r>
            <a:r>
              <a:rPr lang="it-IT" dirty="0" err="1"/>
              <a:t>RGB</a:t>
            </a:r>
            <a:r>
              <a:rPr lang="it-IT" dirty="0"/>
              <a:t> Led è una combinazione di 3 LED in un unico componente.</a:t>
            </a:r>
            <a:br>
              <a:rPr lang="it-IT" dirty="0"/>
            </a:br>
            <a:r>
              <a:rPr lang="it-IT" dirty="0"/>
              <a:t>Possiede 3 pin: 1 per la </a:t>
            </a:r>
            <a:r>
              <a:rPr lang="it-IT" dirty="0" err="1"/>
              <a:t>GND</a:t>
            </a:r>
            <a:r>
              <a:rPr lang="it-IT" dirty="0"/>
              <a:t> e gli altri 3 per i tre diversi colori dei LED.</a:t>
            </a:r>
            <a:br>
              <a:rPr lang="it-IT" dirty="0"/>
            </a:br>
            <a:r>
              <a:rPr lang="it-IT" dirty="0"/>
              <a:t>Combinando l’attivazione dei pin di diverso colore se ne possono creare di altri.</a:t>
            </a:r>
            <a:br>
              <a:rPr lang="it-IT" dirty="0"/>
            </a:br>
            <a:r>
              <a:rPr lang="it-IT" dirty="0"/>
              <a:t>Le colorazioni totali sono 6.</a:t>
            </a:r>
            <a:br>
              <a:rPr lang="it-IT" dirty="0"/>
            </a:br>
            <a:r>
              <a:rPr lang="it-IT" dirty="0"/>
              <a:t>Necessita di pin digitali collegati alla board, da attivare a seconda del colore che si vuole far visualizzare.</a:t>
            </a:r>
          </a:p>
        </p:txBody>
      </p:sp>
    </p:spTree>
    <p:extLst>
      <p:ext uri="{BB962C8B-B14F-4D97-AF65-F5344CB8AC3E}">
        <p14:creationId xmlns:p14="http://schemas.microsoft.com/office/powerpoint/2010/main" val="4217498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SENSORE AD ULTRASUONI HC-SR04</a:t>
            </a:r>
          </a:p>
        </p:txBody>
      </p:sp>
      <p:pic>
        <p:nvPicPr>
          <p:cNvPr id="5" name="Segnaposto contenuto 4">
            <a:extLst>
              <a:ext uri="{FF2B5EF4-FFF2-40B4-BE49-F238E27FC236}">
                <a16:creationId xmlns:a16="http://schemas.microsoft.com/office/drawing/2014/main" id="{07ECCA76-F60E-4900-B027-3CFE3483B8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10602" y="2834384"/>
            <a:ext cx="3070224" cy="228496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4" name="CasellaDiTesto 3">
            <a:extLst>
              <a:ext uri="{FF2B5EF4-FFF2-40B4-BE49-F238E27FC236}">
                <a16:creationId xmlns:a16="http://schemas.microsoft.com/office/drawing/2014/main" id="{733E42A4-5108-498A-822A-A795E2FBF77F}"/>
              </a:ext>
            </a:extLst>
          </p:cNvPr>
          <p:cNvSpPr txBox="1"/>
          <p:nvPr/>
        </p:nvSpPr>
        <p:spPr>
          <a:xfrm>
            <a:off x="266698" y="2095720"/>
            <a:ext cx="7683501" cy="3970318"/>
          </a:xfrm>
          <a:prstGeom prst="rect">
            <a:avLst/>
          </a:prstGeom>
          <a:noFill/>
        </p:spPr>
        <p:txBody>
          <a:bodyPr wrap="square" rtlCol="0">
            <a:spAutoFit/>
          </a:bodyPr>
          <a:lstStyle/>
          <a:p>
            <a:r>
              <a:rPr lang="it-IT" dirty="0"/>
              <a:t>Il modulo è formato da un trasmettitore ad ultrasuoni, che invia un segnale acustico, un ricevitore che capta il segnale e un circuito di controllo.</a:t>
            </a:r>
          </a:p>
          <a:p>
            <a:r>
              <a:rPr lang="it-IT" dirty="0"/>
              <a:t>Il funzionamento è semplice, il trasmettitore deve inviare un segnale HIGH per almeno 10us, così facendo il modulo invierà automaticamente otto onde a 40kHz ed individuerà in ritorno di un’eventuale pulsazione di segnale. Il sensore risponderà sul pin </a:t>
            </a:r>
            <a:r>
              <a:rPr lang="it-IT" dirty="0" err="1"/>
              <a:t>Echo</a:t>
            </a:r>
            <a:r>
              <a:rPr lang="it-IT" dirty="0"/>
              <a:t> con un impulso HIGH della durata corrispondente a quelle del viaggio delle onde sonore.</a:t>
            </a:r>
          </a:p>
          <a:p>
            <a:r>
              <a:rPr lang="it-IT" dirty="0"/>
              <a:t>Il sensore possiede 4 pin: </a:t>
            </a:r>
            <a:br>
              <a:rPr lang="it-IT" dirty="0"/>
            </a:br>
            <a:r>
              <a:rPr lang="it-IT" dirty="0"/>
              <a:t>• VCC per l’alimentazione dai 3,5V ai 5V; </a:t>
            </a:r>
            <a:br>
              <a:rPr lang="it-IT" dirty="0"/>
            </a:br>
            <a:r>
              <a:rPr lang="it-IT" dirty="0"/>
              <a:t>• </a:t>
            </a:r>
            <a:r>
              <a:rPr lang="it-IT" dirty="0" err="1"/>
              <a:t>GND</a:t>
            </a:r>
            <a:r>
              <a:rPr lang="it-IT" dirty="0"/>
              <a:t> per la massa</a:t>
            </a:r>
            <a:br>
              <a:rPr lang="it-IT" dirty="0"/>
            </a:br>
            <a:r>
              <a:rPr lang="it-IT" dirty="0"/>
              <a:t>• </a:t>
            </a:r>
            <a:r>
              <a:rPr lang="it-IT" dirty="0" err="1"/>
              <a:t>TRIG</a:t>
            </a:r>
            <a:r>
              <a:rPr lang="it-IT" dirty="0"/>
              <a:t>, pin per trasmettere il segnale acustico</a:t>
            </a:r>
            <a:br>
              <a:rPr lang="it-IT" dirty="0"/>
            </a:br>
            <a:r>
              <a:rPr lang="it-IT" dirty="0"/>
              <a:t>• </a:t>
            </a:r>
            <a:r>
              <a:rPr lang="it-IT" dirty="0" err="1"/>
              <a:t>ECHO</a:t>
            </a:r>
            <a:r>
              <a:rPr lang="it-IT" dirty="0"/>
              <a:t>, pin per leggere la distanza</a:t>
            </a:r>
          </a:p>
          <a:p>
            <a:r>
              <a:rPr lang="it-IT" dirty="0"/>
              <a:t>Le formule per il calcolo della distanza sono state ottenuto dopo svariati tentativi per far lavorare il sensore alla massima precisione consentita.</a:t>
            </a:r>
          </a:p>
        </p:txBody>
      </p:sp>
    </p:spTree>
    <p:extLst>
      <p:ext uri="{BB962C8B-B14F-4D97-AF65-F5344CB8AC3E}">
        <p14:creationId xmlns:p14="http://schemas.microsoft.com/office/powerpoint/2010/main" val="1809718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fontScale="90000"/>
          </a:bodyPr>
          <a:lstStyle/>
          <a:p>
            <a:r>
              <a:rPr lang="it-IT" sz="4800" dirty="0">
                <a:solidFill>
                  <a:srgbClr val="FFFFFF"/>
                </a:solidFill>
              </a:rPr>
              <a:t>MODULO LCD 1602</a:t>
            </a:r>
            <a:br>
              <a:rPr lang="it-IT" sz="4800" dirty="0">
                <a:solidFill>
                  <a:srgbClr val="FFFFFF"/>
                </a:solidFill>
              </a:rPr>
            </a:br>
            <a:r>
              <a:rPr lang="it-IT" sz="4800" dirty="0">
                <a:solidFill>
                  <a:srgbClr val="FFFFFF"/>
                </a:solidFill>
              </a:rPr>
              <a:t>E ADATTATORE</a:t>
            </a:r>
          </a:p>
        </p:txBody>
      </p:sp>
      <p:pic>
        <p:nvPicPr>
          <p:cNvPr id="5" name="Segnaposto contenuto 4" descr="Immagine che contiene elettronico&#10;&#10;Descrizione generata automaticamente">
            <a:extLst>
              <a:ext uri="{FF2B5EF4-FFF2-40B4-BE49-F238E27FC236}">
                <a16:creationId xmlns:a16="http://schemas.microsoft.com/office/drawing/2014/main" id="{2F08773E-8360-4544-8FCD-9050137AC7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22012" y="3429000"/>
            <a:ext cx="2746375" cy="274637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7" name="Immagine 6" descr="Immagine che contiene elettronico, circuito&#10;&#10;Descrizione generata automaticamente">
            <a:extLst>
              <a:ext uri="{FF2B5EF4-FFF2-40B4-BE49-F238E27FC236}">
                <a16:creationId xmlns:a16="http://schemas.microsoft.com/office/drawing/2014/main" id="{CF88B228-0869-4B90-9714-94492AADB0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6735" y="1045349"/>
            <a:ext cx="2536931" cy="2133070"/>
          </a:xfrm>
          <a:prstGeom prst="rect">
            <a:avLst/>
          </a:prstGeom>
          <a:solidFill>
            <a:srgbClr val="FFFFFF">
              <a:shade val="85000"/>
            </a:srgbClr>
          </a:solidFill>
          <a:ln w="88900" cap="sq">
            <a:solidFill>
              <a:schemeClr val="bg1">
                <a:lumMod val="85000"/>
                <a:lumOff val="15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CasellaDiTesto 5">
            <a:extLst>
              <a:ext uri="{FF2B5EF4-FFF2-40B4-BE49-F238E27FC236}">
                <a16:creationId xmlns:a16="http://schemas.microsoft.com/office/drawing/2014/main" id="{FABC6110-D8A0-4313-A621-3DEAE52F785C}"/>
              </a:ext>
            </a:extLst>
          </p:cNvPr>
          <p:cNvSpPr txBox="1"/>
          <p:nvPr/>
        </p:nvSpPr>
        <p:spPr>
          <a:xfrm>
            <a:off x="191134" y="2386348"/>
            <a:ext cx="8271877" cy="2308324"/>
          </a:xfrm>
          <a:prstGeom prst="rect">
            <a:avLst/>
          </a:prstGeom>
          <a:noFill/>
        </p:spPr>
        <p:txBody>
          <a:bodyPr wrap="square">
            <a:spAutoFit/>
          </a:bodyPr>
          <a:lstStyle/>
          <a:p>
            <a:r>
              <a:rPr lang="it-IT" dirty="0"/>
              <a:t>Il display ha una retro-illuminazione LED e può visualizzare due righe da 16 caratteri l’una. Per connettere il display ai pin I2C abbiamo utilizzato un adattatore che si collega a tutti i pin del Display. L’adattatore non fa altro che convertire la trasmissione parallela dei dati del display in un segnale seriale I2C. Con l’adattatore il numero di pin necessari si riduce a 4 invece che 16:</a:t>
            </a:r>
            <a:br>
              <a:rPr lang="it-IT" dirty="0"/>
            </a:br>
            <a:r>
              <a:rPr lang="it-IT" dirty="0"/>
              <a:t>• </a:t>
            </a:r>
            <a:r>
              <a:rPr lang="it-IT" dirty="0" err="1"/>
              <a:t>GND</a:t>
            </a:r>
            <a:r>
              <a:rPr lang="it-IT" dirty="0"/>
              <a:t> connesso alla massa</a:t>
            </a:r>
            <a:br>
              <a:rPr lang="it-IT" dirty="0"/>
            </a:br>
            <a:r>
              <a:rPr lang="it-IT" dirty="0"/>
              <a:t>• VCC alimentazione a 5V</a:t>
            </a:r>
            <a:br>
              <a:rPr lang="it-IT" dirty="0"/>
            </a:br>
            <a:r>
              <a:rPr lang="it-IT" dirty="0"/>
              <a:t>• SDA e </a:t>
            </a:r>
            <a:r>
              <a:rPr lang="it-IT" dirty="0" err="1"/>
              <a:t>SCL</a:t>
            </a:r>
            <a:r>
              <a:rPr lang="it-IT" dirty="0"/>
              <a:t> solo i pin da collegare alla I2C sulla board.</a:t>
            </a:r>
          </a:p>
        </p:txBody>
      </p:sp>
    </p:spTree>
    <p:extLst>
      <p:ext uri="{BB962C8B-B14F-4D97-AF65-F5344CB8AC3E}">
        <p14:creationId xmlns:p14="http://schemas.microsoft.com/office/powerpoint/2010/main" val="2779184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MODALITA’ DI INTERFACCIAMENTO</a:t>
            </a:r>
          </a:p>
        </p:txBody>
      </p:sp>
      <p:sp>
        <p:nvSpPr>
          <p:cNvPr id="3" name="Segnaposto contenuto 2">
            <a:extLst>
              <a:ext uri="{FF2B5EF4-FFF2-40B4-BE49-F238E27FC236}">
                <a16:creationId xmlns:a16="http://schemas.microsoft.com/office/drawing/2014/main" id="{0CD2E504-8E01-4447-8C8A-9C363BD3C96C}"/>
              </a:ext>
            </a:extLst>
          </p:cNvPr>
          <p:cNvSpPr>
            <a:spLocks noGrp="1"/>
          </p:cNvSpPr>
          <p:nvPr>
            <p:ph idx="1"/>
          </p:nvPr>
        </p:nvSpPr>
        <p:spPr>
          <a:xfrm>
            <a:off x="167425" y="1996226"/>
            <a:ext cx="11880642" cy="4636394"/>
          </a:xfrm>
          <a:effectLst/>
        </p:spPr>
        <p:txBody>
          <a:bodyPr anchor="ctr">
            <a:normAutofit/>
          </a:bodyPr>
          <a:lstStyle/>
          <a:p>
            <a:pPr marL="36900" indent="0">
              <a:lnSpc>
                <a:spcPct val="125000"/>
              </a:lnSpc>
              <a:spcAft>
                <a:spcPts val="800"/>
              </a:spcAft>
              <a:buNone/>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Le principali modalità di interfacciamento e comunicazione con il mondo esterno sono:</a:t>
            </a:r>
          </a:p>
          <a:p>
            <a:pPr>
              <a:lnSpc>
                <a:spcPct val="125000"/>
              </a:lnSpc>
              <a:spcAft>
                <a:spcPts val="800"/>
              </a:spcAft>
            </a:pPr>
            <a:r>
              <a:rPr lang="it-IT" sz="2000" b="1" dirty="0">
                <a:effectLst/>
                <a:latin typeface="Calibri" panose="020F0502020204030204" pitchFamily="34" charset="0"/>
                <a:ea typeface="Times New Roman" panose="02020603050405020304" pitchFamily="18" charset="0"/>
                <a:cs typeface="Times New Roman" panose="02020603050405020304" pitchFamily="18" charset="0"/>
              </a:rPr>
              <a:t>INPUT</a:t>
            </a:r>
            <a:endParaRPr lang="it-IT" sz="1800" b="1"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25000"/>
              </a:lnSpc>
              <a:spcAft>
                <a:spcPts val="800"/>
              </a:spcAft>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Keypad a membrana (tastiera per inserire la password)</a:t>
            </a:r>
          </a:p>
          <a:p>
            <a:pPr marL="342900" lvl="0" indent="-342900">
              <a:lnSpc>
                <a:spcPct val="125000"/>
              </a:lnSpc>
              <a:spcAft>
                <a:spcPts val="800"/>
              </a:spcAft>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Applicazione di interfaccia </a:t>
            </a:r>
            <a:r>
              <a:rPr lang="it-IT" sz="1800" dirty="0" err="1">
                <a:effectLst/>
                <a:latin typeface="Calibri" panose="020F0502020204030204" pitchFamily="34" charset="0"/>
                <a:ea typeface="Times New Roman" panose="02020603050405020304" pitchFamily="18" charset="0"/>
                <a:cs typeface="Times New Roman" panose="02020603050405020304" pitchFamily="18" charset="0"/>
              </a:rPr>
              <a:t>MQTT</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Dashboard</a:t>
            </a:r>
          </a:p>
          <a:p>
            <a:pPr marL="342900" lvl="0" indent="-342900">
              <a:lnSpc>
                <a:spcPct val="125000"/>
              </a:lnSpc>
              <a:spcAft>
                <a:spcPts val="800"/>
              </a:spcAft>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Sensore ad ultrasuoni</a:t>
            </a:r>
          </a:p>
          <a:p>
            <a:pPr>
              <a:lnSpc>
                <a:spcPct val="125000"/>
              </a:lnSpc>
              <a:spcAft>
                <a:spcPts val="800"/>
              </a:spcAft>
            </a:pPr>
            <a:r>
              <a:rPr lang="it-IT" sz="2000" b="1" dirty="0">
                <a:effectLst/>
                <a:latin typeface="Calibri" panose="020F0502020204030204" pitchFamily="34" charset="0"/>
                <a:ea typeface="Times New Roman" panose="02020603050405020304" pitchFamily="18" charset="0"/>
                <a:cs typeface="Times New Roman" panose="02020603050405020304" pitchFamily="18" charset="0"/>
              </a:rPr>
              <a:t>OUTPUT</a:t>
            </a:r>
            <a:endParaRPr lang="it-IT" sz="1800" b="1"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25000"/>
              </a:lnSpc>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Display lcd per visualizzare password inserita (I2C)</a:t>
            </a:r>
          </a:p>
          <a:p>
            <a:pPr marL="342900" lvl="0" indent="-342900">
              <a:lnSpc>
                <a:spcPct val="125000"/>
              </a:lnSpc>
              <a:buFont typeface="Symbol" panose="05050102010706020507" pitchFamily="18" charset="2"/>
              <a:buChar char=""/>
            </a:pPr>
            <a:r>
              <a:rPr lang="it-IT" sz="1800" dirty="0" err="1">
                <a:effectLst/>
                <a:latin typeface="Calibri" panose="020F0502020204030204" pitchFamily="34" charset="0"/>
                <a:ea typeface="Times New Roman" panose="02020603050405020304" pitchFamily="18" charset="0"/>
                <a:cs typeface="Times New Roman" panose="02020603050405020304" pitchFamily="18" charset="0"/>
              </a:rPr>
              <a:t>RGB</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Led</a:t>
            </a:r>
          </a:p>
          <a:p>
            <a:pPr marL="342900" lvl="0" indent="-342900">
              <a:lnSpc>
                <a:spcPct val="125000"/>
              </a:lnSpc>
              <a:spcAft>
                <a:spcPts val="800"/>
              </a:spcAft>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Notifiche allo smartphone o pc (</a:t>
            </a:r>
            <a:r>
              <a:rPr lang="it-IT" sz="1800" dirty="0" err="1">
                <a:effectLst/>
                <a:latin typeface="Calibri" panose="020F0502020204030204" pitchFamily="34" charset="0"/>
                <a:ea typeface="Times New Roman" panose="02020603050405020304" pitchFamily="18" charset="0"/>
                <a:cs typeface="Times New Roman" panose="02020603050405020304" pitchFamily="18" charset="0"/>
              </a:rPr>
              <a:t>MQTT</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a:t>
            </a:r>
          </a:p>
          <a:p>
            <a:pPr marL="36900" indent="0">
              <a:buNone/>
            </a:pPr>
            <a:endParaRPr lang="it-IT" dirty="0"/>
          </a:p>
        </p:txBody>
      </p:sp>
    </p:spTree>
    <p:extLst>
      <p:ext uri="{BB962C8B-B14F-4D97-AF65-F5344CB8AC3E}">
        <p14:creationId xmlns:p14="http://schemas.microsoft.com/office/powerpoint/2010/main" val="2902943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FUNZIONAMENTO COMPONENTI</a:t>
            </a:r>
          </a:p>
        </p:txBody>
      </p:sp>
      <p:sp>
        <p:nvSpPr>
          <p:cNvPr id="3" name="Segnaposto contenuto 2">
            <a:extLst>
              <a:ext uri="{FF2B5EF4-FFF2-40B4-BE49-F238E27FC236}">
                <a16:creationId xmlns:a16="http://schemas.microsoft.com/office/drawing/2014/main" id="{0CD2E504-8E01-4447-8C8A-9C363BD3C96C}"/>
              </a:ext>
            </a:extLst>
          </p:cNvPr>
          <p:cNvSpPr>
            <a:spLocks noGrp="1"/>
          </p:cNvSpPr>
          <p:nvPr>
            <p:ph idx="1"/>
          </p:nvPr>
        </p:nvSpPr>
        <p:spPr>
          <a:xfrm>
            <a:off x="167425" y="1738649"/>
            <a:ext cx="11880642" cy="4893971"/>
          </a:xfrm>
          <a:effectLst/>
        </p:spPr>
        <p:txBody>
          <a:bodyPr anchor="ctr">
            <a:normAutofit fontScale="92500" lnSpcReduction="10000"/>
          </a:bodyPr>
          <a:lstStyle/>
          <a:p>
            <a:pPr>
              <a:lnSpc>
                <a:spcPct val="125000"/>
              </a:lnSpc>
              <a:spcAft>
                <a:spcPts val="800"/>
              </a:spcAft>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Il modulo a ultrasuoni procede alla rilevazione della chiusura del cassetto ed effettua la rotazione del servomotore, garantendo la chiusura del cassetto. I keypad 4x4 serve per inserire la password, mentre il display mostra la password inserita. Qualora fosse errata viene segnalata dal display, dal led </a:t>
            </a:r>
            <a:r>
              <a:rPr lang="it-IT" sz="1800" dirty="0" err="1">
                <a:effectLst/>
                <a:latin typeface="Calibri" panose="020F0502020204030204" pitchFamily="34" charset="0"/>
                <a:ea typeface="Times New Roman" panose="02020603050405020304" pitchFamily="18" charset="0"/>
                <a:cs typeface="Times New Roman" panose="02020603050405020304" pitchFamily="18" charset="0"/>
              </a:rPr>
              <a:t>RGB</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e dal buzzer </a:t>
            </a:r>
            <a:r>
              <a:rPr lang="it-IT" sz="1800" dirty="0" err="1">
                <a:effectLst/>
                <a:latin typeface="Calibri" panose="020F0502020204030204" pitchFamily="34" charset="0"/>
                <a:ea typeface="Times New Roman" panose="02020603050405020304" pitchFamily="18" charset="0"/>
                <a:cs typeface="Times New Roman" panose="02020603050405020304" pitchFamily="18" charset="0"/>
              </a:rPr>
              <a:t>piezo</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(che riproduce un allarme), e viene inviata una notifica allo smartphone del proprietario. Nel caso in cui si inserisce la password corretta il servomotore gira rendendo accessibile il cassetto. Le comunicazione all’utente saranno effettuate attraverso tecnologia </a:t>
            </a:r>
            <a:r>
              <a:rPr lang="it-IT" sz="1800" dirty="0" err="1">
                <a:effectLst/>
                <a:latin typeface="Calibri" panose="020F0502020204030204" pitchFamily="34" charset="0"/>
                <a:ea typeface="Times New Roman" panose="02020603050405020304" pitchFamily="18" charset="0"/>
                <a:cs typeface="Times New Roman" panose="02020603050405020304" pitchFamily="18" charset="0"/>
              </a:rPr>
              <a:t>MQTT</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a:t>
            </a:r>
            <a:br>
              <a:rPr lang="it-IT" sz="1800" dirty="0">
                <a:effectLst/>
                <a:latin typeface="Calibri" panose="020F0502020204030204" pitchFamily="34" charset="0"/>
                <a:ea typeface="Times New Roman" panose="02020603050405020304" pitchFamily="18" charset="0"/>
                <a:cs typeface="Times New Roman" panose="02020603050405020304" pitchFamily="18" charset="0"/>
              </a:rPr>
            </a:b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a:t>
            </a:r>
          </a:p>
          <a:p>
            <a:pPr>
              <a:lnSpc>
                <a:spcPct val="125000"/>
              </a:lnSpc>
              <a:spcAft>
                <a:spcPts val="800"/>
              </a:spcAft>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Il led </a:t>
            </a:r>
            <a:r>
              <a:rPr lang="it-IT" sz="1800" dirty="0" err="1">
                <a:effectLst/>
                <a:latin typeface="Calibri" panose="020F0502020204030204" pitchFamily="34" charset="0"/>
                <a:ea typeface="Times New Roman" panose="02020603050405020304" pitchFamily="18" charset="0"/>
                <a:cs typeface="Times New Roman" panose="02020603050405020304" pitchFamily="18" charset="0"/>
              </a:rPr>
              <a:t>RGB</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sarà illuminato nelle seguenti colorazioni a seconda dello stato del dispositivo:</a:t>
            </a:r>
          </a:p>
          <a:p>
            <a:pPr marL="342900" lvl="0" indent="-342900">
              <a:lnSpc>
                <a:spcPct val="125000"/>
              </a:lnSpc>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BLU quando si preme un tasto</a:t>
            </a:r>
          </a:p>
          <a:p>
            <a:pPr marL="342900" lvl="0" indent="-342900">
              <a:lnSpc>
                <a:spcPct val="125000"/>
              </a:lnSpc>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ROSSO quando scatta l’allarme</a:t>
            </a:r>
          </a:p>
          <a:p>
            <a:pPr marL="342900" lvl="0" indent="-342900">
              <a:lnSpc>
                <a:spcPct val="125000"/>
              </a:lnSpc>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VERDE  quando è stata inserita la combinazione giusta</a:t>
            </a:r>
          </a:p>
          <a:p>
            <a:pPr marL="342900" lvl="0" indent="-342900">
              <a:lnSpc>
                <a:spcPct val="125000"/>
              </a:lnSpc>
              <a:spcAft>
                <a:spcPts val="800"/>
              </a:spcAft>
              <a:buFont typeface="Symbol" panose="05050102010706020507" pitchFamily="18" charset="2"/>
              <a:buChar char=""/>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GIALLO quando si sbaglia ad inserire la password</a:t>
            </a:r>
          </a:p>
          <a:p>
            <a:pPr>
              <a:lnSpc>
                <a:spcPct val="125000"/>
              </a:lnSpc>
              <a:spcAft>
                <a:spcPts val="800"/>
              </a:spcAft>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L’ESP32 racchiuderà le funzionalità implementate.</a:t>
            </a:r>
          </a:p>
          <a:p>
            <a:pPr marL="36900" indent="0">
              <a:buNone/>
            </a:pPr>
            <a:endParaRPr lang="it-IT" dirty="0"/>
          </a:p>
        </p:txBody>
      </p:sp>
    </p:spTree>
    <p:extLst>
      <p:ext uri="{BB962C8B-B14F-4D97-AF65-F5344CB8AC3E}">
        <p14:creationId xmlns:p14="http://schemas.microsoft.com/office/powerpoint/2010/main" val="2407645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B31B751-DA92-436D-94E0-765631DC9179}"/>
              </a:ext>
            </a:extLst>
          </p:cNvPr>
          <p:cNvSpPr>
            <a:spLocks noGrp="1"/>
          </p:cNvSpPr>
          <p:nvPr>
            <p:ph type="title"/>
          </p:nvPr>
        </p:nvSpPr>
        <p:spPr>
          <a:xfrm>
            <a:off x="270457" y="352049"/>
            <a:ext cx="11777610" cy="1386600"/>
          </a:xfrm>
        </p:spPr>
        <p:txBody>
          <a:bodyPr>
            <a:normAutofit/>
          </a:bodyPr>
          <a:lstStyle/>
          <a:p>
            <a:r>
              <a:rPr lang="it-IT" sz="4800" dirty="0">
                <a:solidFill>
                  <a:srgbClr val="FFFFFF"/>
                </a:solidFill>
              </a:rPr>
              <a:t>TEAM</a:t>
            </a:r>
          </a:p>
        </p:txBody>
      </p:sp>
      <p:sp>
        <p:nvSpPr>
          <p:cNvPr id="3" name="Segnaposto contenuto 2">
            <a:extLst>
              <a:ext uri="{FF2B5EF4-FFF2-40B4-BE49-F238E27FC236}">
                <a16:creationId xmlns:a16="http://schemas.microsoft.com/office/drawing/2014/main" id="{0CD2E504-8E01-4447-8C8A-9C363BD3C96C}"/>
              </a:ext>
            </a:extLst>
          </p:cNvPr>
          <p:cNvSpPr>
            <a:spLocks noGrp="1"/>
          </p:cNvSpPr>
          <p:nvPr>
            <p:ph idx="1"/>
          </p:nvPr>
        </p:nvSpPr>
        <p:spPr>
          <a:xfrm>
            <a:off x="167425" y="1996226"/>
            <a:ext cx="11880642" cy="4636394"/>
          </a:xfrm>
          <a:effectLst/>
        </p:spPr>
        <p:txBody>
          <a:bodyPr anchor="ctr">
            <a:normAutofit/>
          </a:bodyPr>
          <a:lstStyle/>
          <a:p>
            <a:pPr marL="36900" indent="0">
              <a:lnSpc>
                <a:spcPct val="125000"/>
              </a:lnSpc>
              <a:spcAft>
                <a:spcPts val="800"/>
              </a:spcAft>
              <a:buNone/>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Il team è costituito da:</a:t>
            </a:r>
          </a:p>
          <a:p>
            <a:pPr>
              <a:lnSpc>
                <a:spcPct val="125000"/>
              </a:lnSpc>
              <a:spcAft>
                <a:spcPts val="800"/>
              </a:spcAft>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Nome: </a:t>
            </a:r>
            <a:r>
              <a:rPr lang="it-IT" sz="1800" b="1" dirty="0">
                <a:effectLst/>
                <a:latin typeface="Calibri" panose="020F0502020204030204" pitchFamily="34" charset="0"/>
                <a:ea typeface="Times New Roman" panose="02020603050405020304" pitchFamily="18" charset="0"/>
                <a:cs typeface="Times New Roman" panose="02020603050405020304" pitchFamily="18" charset="0"/>
              </a:rPr>
              <a:t>Umberto</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 Cognome: </a:t>
            </a:r>
            <a:r>
              <a:rPr lang="it-IT" sz="1800" b="1" dirty="0">
                <a:effectLst/>
                <a:latin typeface="Calibri" panose="020F0502020204030204" pitchFamily="34" charset="0"/>
                <a:ea typeface="Times New Roman" panose="02020603050405020304" pitchFamily="18" charset="0"/>
                <a:cs typeface="Times New Roman" panose="02020603050405020304" pitchFamily="18" charset="0"/>
              </a:rPr>
              <a:t>Altieri</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 Matricola: </a:t>
            </a:r>
            <a:r>
              <a:rPr lang="it-IT" sz="1800" b="1" u="sng" dirty="0">
                <a:effectLst/>
                <a:latin typeface="Calibri" panose="020F0502020204030204" pitchFamily="34" charset="0"/>
                <a:ea typeface="Times New Roman" panose="02020603050405020304" pitchFamily="18" charset="0"/>
                <a:cs typeface="Times New Roman" panose="02020603050405020304" pitchFamily="18" charset="0"/>
              </a:rPr>
              <a:t>0612704490</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 Email: </a:t>
            </a:r>
            <a:r>
              <a:rPr lang="it-IT" sz="1800" i="1" u="sng" dirty="0">
                <a:solidFill>
                  <a:srgbClr val="FFC000"/>
                </a:solidFill>
                <a:effectLst/>
                <a:latin typeface="Calibri" panose="020F0502020204030204" pitchFamily="34"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u.altieri@studenti.unisa.it</a:t>
            </a:r>
            <a:endParaRPr lang="it-IT" sz="1800" i="1" dirty="0">
              <a:solidFill>
                <a:srgbClr val="FFC000"/>
              </a:solidFill>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25000"/>
              </a:lnSpc>
              <a:spcAft>
                <a:spcPts val="800"/>
              </a:spcAft>
            </a:pP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Nome: </a:t>
            </a:r>
            <a:r>
              <a:rPr lang="it-IT" sz="1800" b="1" dirty="0">
                <a:effectLst/>
                <a:latin typeface="Calibri" panose="020F0502020204030204" pitchFamily="34" charset="0"/>
                <a:ea typeface="Times New Roman" panose="02020603050405020304" pitchFamily="18" charset="0"/>
                <a:cs typeface="Times New Roman" panose="02020603050405020304" pitchFamily="18" charset="0"/>
              </a:rPr>
              <a:t>Roberto</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 Cognome: </a:t>
            </a:r>
            <a:r>
              <a:rPr lang="it-IT" sz="1800" b="1" dirty="0">
                <a:effectLst/>
                <a:latin typeface="Calibri" panose="020F0502020204030204" pitchFamily="34" charset="0"/>
                <a:ea typeface="Times New Roman" panose="02020603050405020304" pitchFamily="18" charset="0"/>
                <a:cs typeface="Times New Roman" panose="02020603050405020304" pitchFamily="18" charset="0"/>
              </a:rPr>
              <a:t>Falcone</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 Matricola: </a:t>
            </a:r>
            <a:r>
              <a:rPr lang="it-IT" sz="1800" b="1" u="sng" dirty="0">
                <a:effectLst/>
                <a:latin typeface="Calibri" panose="020F0502020204030204" pitchFamily="34" charset="0"/>
                <a:ea typeface="Times New Roman" panose="02020603050405020304" pitchFamily="18" charset="0"/>
                <a:cs typeface="Times New Roman" panose="02020603050405020304" pitchFamily="18" charset="0"/>
              </a:rPr>
              <a:t>0612704422</a:t>
            </a:r>
            <a:r>
              <a:rPr lang="it-IT" sz="1800" dirty="0">
                <a:effectLst/>
                <a:latin typeface="Calibri" panose="020F0502020204030204" pitchFamily="34" charset="0"/>
                <a:ea typeface="Times New Roman" panose="02020603050405020304" pitchFamily="18" charset="0"/>
                <a:cs typeface="Times New Roman" panose="02020603050405020304" pitchFamily="18" charset="0"/>
              </a:rPr>
              <a:t> - Email: </a:t>
            </a:r>
            <a:r>
              <a:rPr lang="it-IT" sz="1800" i="1" dirty="0">
                <a:solidFill>
                  <a:srgbClr val="FFC000"/>
                </a:solidFill>
                <a:effectLst/>
                <a:latin typeface="Calibri" panose="020F0502020204030204" pitchFamily="34"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r.falcone13@studenti.unisa.it</a:t>
            </a:r>
            <a:endParaRPr lang="it-IT" sz="1800" i="1" dirty="0">
              <a:solidFill>
                <a:srgbClr val="FFC000"/>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6900" indent="0">
              <a:buNone/>
            </a:pPr>
            <a:endParaRPr lang="it-IT" dirty="0"/>
          </a:p>
        </p:txBody>
      </p:sp>
    </p:spTree>
    <p:extLst>
      <p:ext uri="{BB962C8B-B14F-4D97-AF65-F5344CB8AC3E}">
        <p14:creationId xmlns:p14="http://schemas.microsoft.com/office/powerpoint/2010/main" val="10954754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LightSeedLeftStep">
      <a:dk1>
        <a:srgbClr val="000000"/>
      </a:dk1>
      <a:lt1>
        <a:srgbClr val="FFFFFF"/>
      </a:lt1>
      <a:dk2>
        <a:srgbClr val="243941"/>
      </a:dk2>
      <a:lt2>
        <a:srgbClr val="E8E6E2"/>
      </a:lt2>
      <a:accent1>
        <a:srgbClr val="8FA1CD"/>
      </a:accent1>
      <a:accent2>
        <a:srgbClr val="77ABC2"/>
      </a:accent2>
      <a:accent3>
        <a:srgbClr val="78ACA6"/>
      </a:accent3>
      <a:accent4>
        <a:srgbClr val="6DB18D"/>
      </a:accent4>
      <a:accent5>
        <a:srgbClr val="77B07A"/>
      </a:accent5>
      <a:accent6>
        <a:srgbClr val="83AE6B"/>
      </a:accent6>
      <a:hlink>
        <a:srgbClr val="918158"/>
      </a:hlink>
      <a:folHlink>
        <a:srgbClr val="7F7F7F"/>
      </a:folHlink>
    </a:clrScheme>
    <a:fontScheme name="Slate">
      <a:majorFont>
        <a:latin typeface="Georgia Pro"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Dubai"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515E53002CF114584786A9F4F5BFE32" ma:contentTypeVersion="7" ma:contentTypeDescription="Creare un nuovo documento." ma:contentTypeScope="" ma:versionID="97d33d23d9251702b9a0d596a005edc8">
  <xsd:schema xmlns:xsd="http://www.w3.org/2001/XMLSchema" xmlns:xs="http://www.w3.org/2001/XMLSchema" xmlns:p="http://schemas.microsoft.com/office/2006/metadata/properties" xmlns:ns2="a8326296-03fc-45dc-9d18-eca94a725608" targetNamespace="http://schemas.microsoft.com/office/2006/metadata/properties" ma:root="true" ma:fieldsID="2fce244d1ee4f36d12cfd6937910e848" ns2:_="">
    <xsd:import namespace="a8326296-03fc-45dc-9d18-eca94a72560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326296-03fc-45dc-9d18-eca94a7256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64100D-7502-4595-A5EA-E27F632FC3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326296-03fc-45dc-9d18-eca94a7256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6730C20-51B2-45DB-AF08-B12E09EEA270}">
  <ds:schemaRefs>
    <ds:schemaRef ds:uri="http://schemas.microsoft.com/sharepoint/v3/contenttype/forms"/>
  </ds:schemaRefs>
</ds:datastoreItem>
</file>

<file path=customXml/itemProps3.xml><?xml version="1.0" encoding="utf-8"?>
<ds:datastoreItem xmlns:ds="http://schemas.openxmlformats.org/officeDocument/2006/customXml" ds:itemID="{F22A7328-60DE-4558-9472-48F7EA12788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157</TotalTime>
  <Words>1037</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13</vt:i4>
      </vt:variant>
    </vt:vector>
  </HeadingPairs>
  <TitlesOfParts>
    <vt:vector size="19" baseType="lpstr">
      <vt:lpstr>Calibri</vt:lpstr>
      <vt:lpstr>Dubai</vt:lpstr>
      <vt:lpstr>Georgia Pro</vt:lpstr>
      <vt:lpstr>Symbol</vt:lpstr>
      <vt:lpstr>Wingdings 2</vt:lpstr>
      <vt:lpstr>SlateVTI</vt:lpstr>
      <vt:lpstr>Security iDrawer</vt:lpstr>
      <vt:lpstr>DESCRIZIONE</vt:lpstr>
      <vt:lpstr>INSTALLAZIONE</vt:lpstr>
      <vt:lpstr>COMPONENTI</vt:lpstr>
      <vt:lpstr>KEYPAD A MEMBRANA</vt:lpstr>
      <vt:lpstr>MICRO SERVOMOTRE</vt:lpstr>
      <vt:lpstr>BUZZER PIEZO PASSIVO</vt:lpstr>
      <vt:lpstr>RGB LED</vt:lpstr>
      <vt:lpstr>SENSORE AD ULTRASUONI HC-SR04</vt:lpstr>
      <vt:lpstr>MODULO LCD 1602 E ADATTATORE</vt:lpstr>
      <vt:lpstr>MODALITA’ DI INTERFACCIAMENTO</vt:lpstr>
      <vt:lpstr>FUNZIONAMENTO COMPONENTI</vt:lpstr>
      <vt:lpstr>TEAM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iDrawer</dc:title>
  <dc:creator>roberto falcone</dc:creator>
  <cp:lastModifiedBy>roberto falcone</cp:lastModifiedBy>
  <cp:revision>14</cp:revision>
  <dcterms:created xsi:type="dcterms:W3CDTF">2021-05-16T09:26:41Z</dcterms:created>
  <dcterms:modified xsi:type="dcterms:W3CDTF">2021-05-19T08:00:59Z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0x010100A515E53002CF114584786A9F4F5BFE32</vt:lpwstr>
  </property>
</Properties>
</file>